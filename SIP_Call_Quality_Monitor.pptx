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914400"/>
            <a:ext cx="2286000" cy="2286000"/>
          </a:xfrm>
          <a:prstGeom prst="ellipse">
            <a:avLst/>
          </a:prstGeom>
          <a:solidFill>
            <a:srgbClr val="182A4A"/>
          </a:solidFill>
          <a:ln w="25400">
            <a:solidFill>
              <a:srgbClr val="5E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2860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4800" b="1">
                <a:solidFill>
                  <a:srgbClr val="5EC2FF"/>
                </a:solidFill>
                <a:latin typeface="Helvetica"/>
              </a:rPr>
              <a:t>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310896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AI-Powered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Call Quality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704088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200" b="1">
                <a:solidFill>
                  <a:srgbClr val="0B1830"/>
                </a:solidFill>
                <a:latin typeface="Helvetica"/>
              </a:rPr>
              <a:t>SIP Call Quality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704088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0">
                <a:solidFill>
                  <a:srgbClr val="8AA0BD"/>
                </a:solidFill>
                <a:latin typeface="Helvetica"/>
              </a:rPr>
              <a:t>Real-time RTP analysis · MOS scoring · ML degradation prediction · Groq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657600"/>
            <a:ext cx="2011680" cy="54864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0B1830"/>
                </a:solidFill>
                <a:latin typeface="Helvetica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657600"/>
            <a:ext cx="2011680" cy="54864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6576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0B1830"/>
                </a:solidFill>
                <a:latin typeface="Helvetica"/>
              </a:rPr>
              <a:t>scapy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657600"/>
            <a:ext cx="2011680" cy="54864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6576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0B1830"/>
                </a:solidFill>
                <a:latin typeface="Helvetica"/>
              </a:rPr>
              <a:t>scikit-learn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480560"/>
            <a:ext cx="2011680" cy="54864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48056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0B1830"/>
                </a:solidFill>
                <a:latin typeface="Helvetica"/>
              </a:rPr>
              <a:t>React + Vite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480560"/>
            <a:ext cx="2011680" cy="54864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48056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0B1830"/>
                </a:solidFill>
                <a:latin typeface="Helvetica"/>
              </a:rPr>
              <a:t>Groq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6035040"/>
            <a:ext cx="70408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8AA0BD"/>
                </a:solidFill>
                <a:latin typeface="Helvetica"/>
              </a:rPr>
              <a:t>github.com/ssamreen24656/SIP-Call-Quality-Monitor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000" b="1">
                <a:solidFill>
                  <a:srgbClr val="0B1830"/>
                </a:solidFill>
                <a:latin typeface="Helvetica"/>
              </a:rPr>
              <a:t>The Problem &amp;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8AA0BD"/>
                </a:solidFill>
                <a:latin typeface="Helvetica"/>
              </a:rPr>
              <a:t>Why VoIP needs predictive — not reactive — quality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Helvetica"/>
              </a:rPr>
              <a:t>SIP Call Quality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000" b="0">
                <a:solidFill>
                  <a:srgbClr val="8AA0BD"/>
                </a:solidFill>
                <a:latin typeface="Helvetica"/>
              </a:rPr>
              <a:t>2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94960" cy="457200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846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Helvetica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84632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0B1830"/>
                </a:solidFill>
                <a:latin typeface="Helvetica"/>
              </a:rPr>
              <a:t>VoIP calls degrade silently.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Reactive monitoring catches problems after users hang up.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Three independent metrics — jitter, packet loss, latency — combine non-linearly into call quality.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MOS (Mean Opinion Score, 1.0–4.5) is the industry composite, but typically computed post-call.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Operators need to act before a call goes bad, not 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94960" cy="457200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Helvetica"/>
              </a:rP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0B1830"/>
                </a:solidFill>
                <a:latin typeface="Helvetica"/>
              </a:rPr>
              <a:t>Parse RTP → score MOS → predict next window.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scapy extracts per-packet jitter / loss / latency from a PCAP.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E-Model converts metrics into a MOS score per 1-second window.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scikit-learn predicts the next-window MOS from a 5-window lookback.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Groq (Llama 3.3 70B) explains the likely root cause in plain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000" b="1">
                <a:solidFill>
                  <a:srgbClr val="0B1830"/>
                </a:solidFill>
                <a:latin typeface="Helvetica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8AA0BD"/>
                </a:solidFill>
                <a:latin typeface="Helvetica"/>
              </a:rPr>
              <a:t>PCAP upload → live prediction in the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Helvetica"/>
              </a:rPr>
              <a:t>SIP Call Quality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000" b="0">
                <a:solidFill>
                  <a:srgbClr val="8AA0BD"/>
                </a:solidFill>
                <a:latin typeface="Helvetica"/>
              </a:rPr>
              <a:t>3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2194560"/>
            <a:ext cx="1600200" cy="1280160"/>
          </a:xfrm>
          <a:prstGeom prst="round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147" y="2359152"/>
            <a:ext cx="1600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0B1830"/>
                </a:solidFill>
                <a:latin typeface="Helvetica"/>
              </a:rPr>
              <a:t>PCAP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147" y="2761488"/>
            <a:ext cx="1600200" cy="685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>
                <a:solidFill>
                  <a:srgbClr val="0B1830"/>
                </a:solidFill>
                <a:latin typeface="Helvetica"/>
              </a:rPr>
              <a:t>User uploads
.pcap file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95347" y="2697480"/>
            <a:ext cx="320040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15387" y="2194560"/>
            <a:ext cx="160020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B1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5387" y="2359152"/>
            <a:ext cx="1600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0B1830"/>
                </a:solidFill>
                <a:latin typeface="Helvetica"/>
              </a:rPr>
              <a:t>scapy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5387" y="2761488"/>
            <a:ext cx="1600200" cy="685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Helvetica"/>
              </a:rPr>
              <a:t>Extract RTP
by SSRC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15587" y="2697480"/>
            <a:ext cx="320040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5627" y="2194560"/>
            <a:ext cx="160020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B1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5627" y="2359152"/>
            <a:ext cx="1600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0B1830"/>
                </a:solidFill>
                <a:latin typeface="Helvetica"/>
              </a:rPr>
              <a:t>MOS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5627" y="2761488"/>
            <a:ext cx="1600200" cy="685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Helvetica"/>
              </a:rPr>
              <a:t>E-Model
scoring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5827" y="2697480"/>
            <a:ext cx="320040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55867" y="2194560"/>
            <a:ext cx="160020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B1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2359152"/>
            <a:ext cx="1600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0B1830"/>
                </a:solidFill>
                <a:latin typeface="Helvetica"/>
              </a:rPr>
              <a:t>ML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2761488"/>
            <a:ext cx="1600200" cy="685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Helvetica"/>
              </a:rPr>
              <a:t>GBR predicts
next MOS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56067" y="2697480"/>
            <a:ext cx="320040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76107" y="2194560"/>
            <a:ext cx="160020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B1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6107" y="2359152"/>
            <a:ext cx="1600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0B1830"/>
                </a:solidFill>
                <a:latin typeface="Helvetica"/>
              </a:rPr>
              <a:t>WebSocket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6107" y="2761488"/>
            <a:ext cx="1600200" cy="685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Helvetica"/>
              </a:rPr>
              <a:t>Replay @4×
real-time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76307" y="2697480"/>
            <a:ext cx="320040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96347" y="2194560"/>
            <a:ext cx="1600200" cy="1280160"/>
          </a:xfrm>
          <a:prstGeom prst="round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6347" y="2359152"/>
            <a:ext cx="1600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0B1830"/>
                </a:solidFill>
                <a:latin typeface="Helvetica"/>
              </a:rPr>
              <a:t>React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347" y="2761488"/>
            <a:ext cx="1600200" cy="685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>
                <a:solidFill>
                  <a:srgbClr val="0B1830"/>
                </a:solidFill>
                <a:latin typeface="Helvetica"/>
              </a:rPr>
              <a:t>Cards · chart
· prediction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18407" y="4023360"/>
            <a:ext cx="4754880" cy="109728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8407" y="4160520"/>
            <a:ext cx="47548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0B1830"/>
                </a:solidFill>
                <a:latin typeface="Helvetica"/>
              </a:rPr>
              <a:t>Groq Insights (on demand)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8407" y="4526280"/>
            <a:ext cx="47548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Helvetica"/>
              </a:rPr>
              <a:t>GET /sessions/{id}/insights → last 20 windows → Llama 3.3 → root cause + fix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896447" y="3474720"/>
            <a:ext cx="0" cy="548640"/>
          </a:xfrm>
          <a:prstGeom prst="line">
            <a:avLst/>
          </a:prstGeom>
          <a:ln w="19050">
            <a:solidFill>
              <a:srgbClr val="8AA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73287" y="4572000"/>
            <a:ext cx="2423160" cy="0"/>
          </a:xfrm>
          <a:prstGeom prst="line">
            <a:avLst/>
          </a:prstGeom>
          <a:ln w="19050">
            <a:solidFill>
              <a:srgbClr val="8AA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300" b="0">
                <a:solidFill>
                  <a:srgbClr val="8AA0BD"/>
                </a:solidFill>
                <a:latin typeface="Helvetica"/>
              </a:rPr>
              <a:t>Frontend ↔ backend via REST for upload + insights; WebSocket streams per-window metrics during replay.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000" b="1">
                <a:solidFill>
                  <a:srgbClr val="0B1830"/>
                </a:solidFill>
                <a:latin typeface="Helvetica"/>
              </a:rPr>
              <a:t>How Metrics Are 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8AA0BD"/>
                </a:solidFill>
                <a:latin typeface="Helvetica"/>
              </a:rPr>
              <a:t>backend/app/pcap_parser.py  +  backend/app/mos.py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Helvetica"/>
              </a:rPr>
              <a:t>SIP Call Quality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000" b="0">
                <a:solidFill>
                  <a:srgbClr val="8AA0BD"/>
                </a:solidFill>
                <a:latin typeface="Helvetica"/>
              </a:rPr>
              <a:t>4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224028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EC2FF"/>
                </a:solidFill>
                <a:latin typeface="Helvetica"/>
              </a:rPr>
              <a:t>1. Parse RTP headers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Filter UDP packets; check first byte for RTP version = 2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Extract: payload type, sequence #, timestamp, SSRC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Group packets by SSRC (one stream = one call leg)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Bucket into 1-second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577840" cy="224028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EC2FF"/>
                </a:solidFill>
                <a:latin typeface="Helvetica"/>
              </a:rPr>
              <a:t>2. Jitter (RFC 3550)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50292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D = | (arrival₂ − arrival₁)·8000 − (ts₂ − ts₁) |</a:t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J = J + (D − J) / 16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Smoothed inter-arrival variance in RTP clock units, converted to 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69080"/>
            <a:ext cx="5577840" cy="224028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5029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EC2FF"/>
                </a:solidFill>
                <a:latin typeface="Helvetica"/>
              </a:rPr>
              <a:t>3. Packet Loss (sequence gaps)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50292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expected = max(seq) − min(seq) + 1</a:t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loss% = (expected − received) / expected × 100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RTP sequence numbers must be consecutive — gaps = dropped packets.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69080"/>
            <a:ext cx="5577840" cy="224028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5029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EC2FF"/>
                </a:solidFill>
                <a:latin typeface="Helvetica"/>
              </a:rPr>
              <a:t>4. MOS via E-Model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50292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Id = delay impairment(latency + 2·jitter)</a:t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Ie = 30 · loss / (loss + 10)</a:t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R  = 93.2 − Id − Ie</a:t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MOS = 1 + 0.035·R + 7e-6·R(R−60)(100−R)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000" b="1">
                <a:solidFill>
                  <a:srgbClr val="0B1830"/>
                </a:solidFill>
                <a:latin typeface="Helvetica"/>
              </a:rPr>
              <a:t>ML Pipeline — Predicting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8AA0BD"/>
                </a:solidFill>
                <a:latin typeface="Helvetica"/>
              </a:rPr>
              <a:t>backend/app/ml_model.py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Helvetica"/>
              </a:rPr>
              <a:t>SIP Call Quality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000" b="0">
                <a:solidFill>
                  <a:srgbClr val="8AA0BD"/>
                </a:solidFill>
                <a:latin typeface="Helvetica"/>
              </a:rPr>
              <a:t>5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027" y="1737360"/>
            <a:ext cx="24688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027" y="1920240"/>
            <a:ext cx="24688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4ADE80"/>
                </a:solidFill>
                <a:latin typeface="Helvetica"/>
              </a:rPr>
              <a:t>Synthetic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2331720"/>
            <a:ext cx="24688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Helvetica"/>
              </a:rPr>
              <a:t>3000 sequences
5 lookback + 1 target
35% with degradation trend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65195" y="2377440"/>
            <a:ext cx="283464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6947" y="1737360"/>
            <a:ext cx="24688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6947" y="1920240"/>
            <a:ext cx="24688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5EC2FF"/>
                </a:solidFill>
                <a:latin typeface="Helvetica"/>
              </a:rPr>
              <a:t>Train GBR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6947" y="2331720"/>
            <a:ext cx="24688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Helvetica"/>
              </a:rPr>
              <a:t>GradientBoosting
120 estimators · depth 4
(once on startup)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4115" y="2377440"/>
            <a:ext cx="283464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737360"/>
            <a:ext cx="24688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1920240"/>
            <a:ext cx="24688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FB923C"/>
                </a:solidFill>
                <a:latin typeface="Helvetica"/>
              </a:rPr>
              <a:t>Live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867" y="2331720"/>
            <a:ext cx="24688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Helvetica"/>
              </a:rPr>
              <a:t>Per window: append to
rolling 5-window buffer
→ predict next MOS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43035" y="2377440"/>
            <a:ext cx="283464" cy="274320"/>
          </a:xfrm>
          <a:prstGeom prst="rightArrow">
            <a:avLst/>
          </a:prstGeom>
          <a:solidFill>
            <a:srgbClr val="8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4688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4787" y="1920240"/>
            <a:ext cx="24688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F87171"/>
                </a:solidFill>
                <a:latin typeface="Helvetica"/>
              </a:rPr>
              <a:t>Severity 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4787" y="2331720"/>
            <a:ext cx="24688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Helvetica"/>
              </a:rPr>
              <a:t>future_MOS …
&lt; 2.5 critical
&lt; 3.2 warning · &lt; 3.8 fair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840480"/>
            <a:ext cx="9418320" cy="228600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4023360"/>
            <a:ext cx="8686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0B1830"/>
                </a:solidFill>
                <a:latin typeface="Helvetica"/>
              </a:rPr>
              <a:t>Inference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26280"/>
            <a:ext cx="8686800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Input  : last 5 windows × [jitter_ms, packet_loss_pct, latency_ms]  →  15-dim feature vector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Output : predicted MOS for the next 1-second window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Emit   : { future_mos, delta, degradation: bool, severity }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200" b="1">
                <a:solidFill>
                  <a:srgbClr val="8AA0BD"/>
                </a:solidFill>
                <a:latin typeface="Helvetica"/>
              </a:rPr>
              <a:t>Why GBR over LSTM? Trains in seconds on synthetic data, predicts in microseconds, no GPU.</a:t>
            </a:r>
          </a:p>
          <a:p>
            <a:pPr algn="l"/>
            <a:r>
              <a:rPr sz="1200" b="0">
                <a:solidFill>
                  <a:srgbClr val="8AA0BD"/>
                </a:solidFill>
                <a:latin typeface="Helvetica"/>
              </a:rPr>
              <a:t>In production: swap _train_synthetic() for a fit on real labeled calls — interface unchanged.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000" b="1">
                <a:solidFill>
                  <a:srgbClr val="0B1830"/>
                </a:solidFill>
                <a:latin typeface="Helvetica"/>
              </a:rPr>
              <a:t>Frontend, Groq Insights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8AA0BD"/>
                </a:solidFill>
                <a:latin typeface="Helvetica"/>
              </a:rPr>
              <a:t>What the user sees, plus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8AA0BD"/>
                </a:solidFill>
                <a:latin typeface="Helvetica"/>
              </a:rPr>
              <a:t>SIP Call Quality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000" b="0">
                <a:solidFill>
                  <a:srgbClr val="8AA0BD"/>
                </a:solidFill>
                <a:latin typeface="Helvetica"/>
              </a:rPr>
              <a:t>6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48056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EC2FF"/>
                </a:solidFill>
                <a:latin typeface="Helvetica"/>
              </a:rPr>
              <a:t>React Dashboard (frontend/src)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93776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Upload.jsx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   PCAP picker → POST /upload-pcap → session id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MetricsCards.jsx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   MOS · Jitter · Loss · Latency — color graded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Prediction.jsx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   Predicted MOS · Δ · severity badge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MetricsChart.jsx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   recharts: measured vs predicted MOS overlay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1">
                <a:solidFill>
                  <a:srgbClr val="0B1830"/>
                </a:solidFill>
                <a:latin typeface="Helvetica"/>
              </a:rPr>
              <a:t>AIInsights.jsx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   Calls /sessions/{id}/insights → Groq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4480560"/>
          </a:xfrm>
          <a:prstGeom prst="roundRect">
            <a:avLst/>
          </a:prstGeom>
          <a:solidFill>
            <a:srgbClr val="0B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5EC2FF"/>
                </a:solidFill>
                <a:latin typeface="Helvetica"/>
              </a:rPr>
              <a:t>Run it locally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93776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8AA0BD"/>
                </a:solidFill>
                <a:latin typeface="Helvetica"/>
              </a:rPr>
              <a:t># 1. Backend (terminal 1)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Helvetica"/>
              </a:rPr>
              <a:t>cd backend &amp;&amp; source .venv/bin/activate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Helvetica"/>
              </a:rPr>
              <a:t>pip install -r requirements.txt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Helvetica"/>
              </a:rPr>
              <a:t>cp .env.example .env   # add GROQ_API_KEY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Helvetica"/>
              </a:rPr>
              <a:t>uvicorn app.main:app --reload --port 8000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100" b="0">
                <a:solidFill>
                  <a:srgbClr val="8AA0BD"/>
                </a:solidFill>
                <a:latin typeface="Helvetica"/>
              </a:rPr>
              <a:t># 2. Frontend (terminal 2)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Helvetica"/>
              </a:rPr>
              <a:t>cd frontend &amp;&amp; npm install &amp;&amp; npm run dev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100" b="0">
                <a:solidFill>
                  <a:srgbClr val="8AA0BD"/>
                </a:solidFill>
                <a:latin typeface="Helvetica"/>
              </a:rPr>
              <a:t># 3. Generate a test pcap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Helvetica"/>
              </a:rPr>
              <a:t>python scripts/generate_sample_pcap.py sample.pcap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100" b="0">
                <a:solidFill>
                  <a:srgbClr val="8AA0BD"/>
                </a:solidFill>
                <a:latin typeface="Helvetica"/>
              </a:rPr>
              <a:t># 4. Open the UI</a:t>
            </a:r>
          </a:p>
          <a:p>
            <a:pPr algn="l"/>
            <a:r>
              <a:rPr sz="1200" b="1">
                <a:solidFill>
                  <a:srgbClr val="5EC2FF"/>
                </a:solidFill>
                <a:latin typeface="Helvetica"/>
              </a:rPr>
              <a:t>http://localhost:5173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72200"/>
            <a:ext cx="11247120" cy="320040"/>
          </a:xfrm>
          <a:prstGeom prst="roundRect">
            <a:avLst/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0B1830"/>
                </a:solidFill>
                <a:latin typeface="Helvetica"/>
              </a:rPr>
              <a:t>Live MOS dashboard with ML lookahead and AI-generated root-cause analysis — all from one PCAP.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